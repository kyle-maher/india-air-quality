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70" r:id="rId8"/>
    <p:sldId id="263" r:id="rId9"/>
    <p:sldId id="262" r:id="rId10"/>
    <p:sldId id="271" r:id="rId11"/>
    <p:sldId id="273" r:id="rId12"/>
    <p:sldId id="264" r:id="rId13"/>
    <p:sldId id="265" r:id="rId14"/>
    <p:sldId id="266" r:id="rId15"/>
    <p:sldId id="267" r:id="rId16"/>
    <p:sldId id="268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2F39C3-16BA-02DC-DA09-CC6D9BB5C1A7}" v="2379" dt="2025-12-01T00:38:59.181"/>
    <p1510:client id="{A40625D7-517E-5A63-19C4-6CC423BF12D6}" v="1336" dt="2025-12-01T02:57:36.909"/>
    <p1510:client id="{C4E5401A-5387-4965-A07B-1DB68F059BB9}" v="1672" dt="2025-12-01T03:49:43.189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727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316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2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847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147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09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07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380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813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101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681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563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2025 Private Full Day New and Old Delhi City Tour (New Delhi) - with  Trusted Reviews">
            <a:extLst>
              <a:ext uri="{FF2B5EF4-FFF2-40B4-BE49-F238E27FC236}">
                <a16:creationId xmlns:a16="http://schemas.microsoft.com/office/drawing/2014/main" id="{106AD43A-3B80-59DF-874A-8452BB297D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9926" y="990599"/>
            <a:ext cx="6312669" cy="4849091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Air quality in</a:t>
            </a:r>
            <a:br>
              <a:rPr lang="en-US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 Delhi, India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368905" cy="4076699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Aidan Frederick, Ben Walter, &amp;</a:t>
            </a:r>
            <a:br>
              <a:rPr lang="en-US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Kyle Maher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7C39E-5339-85FF-4872-6BDDD3985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89" y="177078"/>
            <a:ext cx="7791449" cy="1373852"/>
          </a:xfrm>
        </p:spPr>
        <p:txBody>
          <a:bodyPr>
            <a:normAutofit/>
          </a:bodyPr>
          <a:lstStyle/>
          <a:p>
            <a:r>
              <a:rPr lang="en-US" sz="3200" dirty="0"/>
              <a:t>Why Delhi?</a:t>
            </a:r>
          </a:p>
        </p:txBody>
      </p:sp>
      <p:pic>
        <p:nvPicPr>
          <p:cNvPr id="4" name="Content Placeholder 3" descr="Delhi | History, Population, Map, &amp; Facts | Britannica">
            <a:extLst>
              <a:ext uri="{FF2B5EF4-FFF2-40B4-BE49-F238E27FC236}">
                <a16:creationId xmlns:a16="http://schemas.microsoft.com/office/drawing/2014/main" id="{9C869402-1FB5-AB1A-D5AD-6F739DF444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86795" y="743868"/>
            <a:ext cx="5506679" cy="46397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ADF6E0-3652-3CF1-D859-FFC552294E99}"/>
              </a:ext>
            </a:extLst>
          </p:cNvPr>
          <p:cNvSpPr txBox="1"/>
          <p:nvPr/>
        </p:nvSpPr>
        <p:spPr>
          <a:xfrm>
            <a:off x="695923" y="1056999"/>
            <a:ext cx="4941919" cy="47356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The City of Delhi is one of the world's most populous cities</a:t>
            </a:r>
          </a:p>
          <a:p>
            <a:pPr marL="742950" lvl="1" indent="-285750">
              <a:lnSpc>
                <a:spcPct val="11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en-US"/>
              <a:t>34.7 million people within only 1,484 square kilometers</a:t>
            </a:r>
          </a:p>
          <a:p>
            <a:pPr marL="742950" lvl="1" indent="-285750">
              <a:lnSpc>
                <a:spcPct val="11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en-US"/>
              <a:t>Results in</a:t>
            </a:r>
            <a:r>
              <a:rPr lang="en-US" b="1"/>
              <a:t> 29,000 people per square mile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With so many people in one space, a few questions arise: 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How significant is air pollution in Delhi?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When is it at its least and greatest for any given season? 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What circumstances affect these values?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How is air quality projected to change? 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3441F5-BFFA-E114-93BC-0B20C5ABC162}"/>
              </a:ext>
            </a:extLst>
          </p:cNvPr>
          <p:cNvSpPr txBox="1"/>
          <p:nvPr/>
        </p:nvSpPr>
        <p:spPr>
          <a:xfrm>
            <a:off x="695739" y="6123609"/>
            <a:ext cx="6096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https://worldpopulationreview.com/cities/india/delhi</a:t>
            </a:r>
          </a:p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714180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map of a city&#10;&#10;AI-generated content may be incorrect.">
            <a:extLst>
              <a:ext uri="{FF2B5EF4-FFF2-40B4-BE49-F238E27FC236}">
                <a16:creationId xmlns:a16="http://schemas.microsoft.com/office/drawing/2014/main" id="{E930C25C-B606-2990-ACD1-7651ED4A8F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9" b="1684"/>
          <a:stretch>
            <a:fillRect/>
          </a:stretch>
        </p:blipFill>
        <p:spPr>
          <a:xfrm>
            <a:off x="3896140" y="863402"/>
            <a:ext cx="7499804" cy="5164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0BD006-8967-BD84-9D18-2ADD789E7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739" y="176594"/>
            <a:ext cx="10361866" cy="1307592"/>
          </a:xfrm>
        </p:spPr>
        <p:txBody>
          <a:bodyPr>
            <a:normAutofit/>
          </a:bodyPr>
          <a:lstStyle/>
          <a:p>
            <a:r>
              <a:rPr lang="en-US" sz="3200" dirty="0"/>
              <a:t>Continuous air quality monitoring stations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EC6D5-70BD-172A-C8B1-BBC3D8BD1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92" y="967439"/>
            <a:ext cx="3477212" cy="49536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Station Chosen for Analysis: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North Campus, DU, Delhi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Rational: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Several years of relatively consistent data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Located on a university campus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Dense population surrounding the station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6AF5DB-CB93-E33D-B96C-C5F992467DD4}"/>
              </a:ext>
            </a:extLst>
          </p:cNvPr>
          <p:cNvSpPr txBox="1"/>
          <p:nvPr/>
        </p:nvSpPr>
        <p:spPr>
          <a:xfrm>
            <a:off x="695739" y="6123609"/>
            <a:ext cx="60960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+mn-lt"/>
                <a:cs typeface="+mn-lt"/>
              </a:rPr>
              <a:t>https://www.mdpi.com/2073-4433/13/12/2090</a:t>
            </a:r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27B457B-7F43-9A2B-31BA-1599EE746127}"/>
              </a:ext>
            </a:extLst>
          </p:cNvPr>
          <p:cNvSpPr/>
          <p:nvPr/>
        </p:nvSpPr>
        <p:spPr>
          <a:xfrm>
            <a:off x="9365868" y="2707014"/>
            <a:ext cx="372957" cy="275651"/>
          </a:xfrm>
          <a:prstGeom prst="ellipse">
            <a:avLst/>
          </a:prstGeom>
          <a:noFill/>
          <a:ln w="57150" cap="flat" cmpd="sng" algn="ctr">
            <a:solidFill>
              <a:srgbClr val="FFFF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81534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115A6-3FC9-D6CD-8277-A4895751A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8E501-D67C-CB8A-4B6A-ACB0BCE5F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927" y="96885"/>
            <a:ext cx="5542389" cy="1307592"/>
          </a:xfrm>
        </p:spPr>
        <p:txBody>
          <a:bodyPr>
            <a:normAutofit fontScale="90000"/>
          </a:bodyPr>
          <a:lstStyle/>
          <a:p>
            <a:r>
              <a:rPr lang="en-US" dirty="0"/>
              <a:t>Selecting a Parameter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0191D7-DA45-317C-41BC-F69520348F9F}"/>
              </a:ext>
            </a:extLst>
          </p:cNvPr>
          <p:cNvSpPr txBox="1"/>
          <p:nvPr/>
        </p:nvSpPr>
        <p:spPr>
          <a:xfrm>
            <a:off x="799640" y="929656"/>
            <a:ext cx="5744968" cy="53553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/>
              <a:t>Correlation Insights: 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High concentrations of CO, NO, NO2, NOx, PM2.5 and PM10 occur at the same time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High concentrations of Benzene, Toluene, and Xylene occur together</a:t>
            </a:r>
          </a:p>
          <a:p>
            <a:pPr marL="1200150" lvl="2" indent="-285750">
              <a:buFont typeface="Wingdings"/>
              <a:buChar char="§"/>
            </a:pPr>
            <a:r>
              <a:rPr lang="en-US"/>
              <a:t>Linked to car emissions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/>
              <a:t>Parameter focus: PM2.5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Represents concentration of particulates that are less than 2.5 </a:t>
            </a:r>
            <a:r>
              <a:rPr lang="en-US">
                <a:ea typeface="+mn-lt"/>
                <a:cs typeface="+mn-lt"/>
              </a:rPr>
              <a:t>micrometers in diameter</a:t>
            </a:r>
            <a:endParaRPr lang="en-US"/>
          </a:p>
          <a:p>
            <a:pPr marL="742950" lvl="1" indent="-285750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Exposure is linked to:</a:t>
            </a:r>
          </a:p>
          <a:p>
            <a:pPr marL="1200150" lvl="2" indent="-285750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Aggravated asthma</a:t>
            </a:r>
          </a:p>
          <a:p>
            <a:pPr marL="1200150" lvl="2" indent="-285750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Decreased lung function</a:t>
            </a:r>
            <a:endParaRPr lang="en-US"/>
          </a:p>
          <a:p>
            <a:pPr marL="1200150" lvl="2" indent="-285750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Increased respiratory symptoms</a:t>
            </a:r>
          </a:p>
          <a:p>
            <a:pPr marL="1200150" lvl="2" indent="-285750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Difficulty breathing</a:t>
            </a:r>
            <a:endParaRPr lang="en-US"/>
          </a:p>
          <a:p>
            <a:pPr marL="742950" lvl="1" indent="-285750">
              <a:buFont typeface="Courier New"/>
              <a:buChar char="o"/>
            </a:pPr>
            <a:r>
              <a:rPr lang="en-US"/>
              <a:t>World Health Organization recommended limit</a:t>
            </a:r>
          </a:p>
          <a:p>
            <a:pPr marL="1200150" lvl="2" indent="-285750">
              <a:buFont typeface="Wingdings"/>
              <a:buChar char="§"/>
            </a:pPr>
            <a:r>
              <a:rPr lang="en-US" b="1"/>
              <a:t>Daily Average: </a:t>
            </a:r>
            <a:r>
              <a:rPr lang="en-US" b="1">
                <a:ea typeface="+mn-lt"/>
                <a:cs typeface="+mn-lt"/>
              </a:rPr>
              <a:t>15 </a:t>
            </a:r>
            <a:r>
              <a:rPr lang="en-US" b="1" err="1">
                <a:ea typeface="+mn-lt"/>
                <a:cs typeface="+mn-lt"/>
              </a:rPr>
              <a:t>μg</a:t>
            </a:r>
            <a:r>
              <a:rPr lang="en-US" b="1">
                <a:ea typeface="+mn-lt"/>
                <a:cs typeface="+mn-lt"/>
              </a:rPr>
              <a:t>/m</a:t>
            </a:r>
            <a:r>
              <a:rPr lang="en-US" b="1" baseline="30000">
                <a:ea typeface="+mn-lt"/>
                <a:cs typeface="+mn-lt"/>
              </a:rPr>
              <a:t>3</a:t>
            </a:r>
            <a:endParaRPr lang="en-US" b="1">
              <a:ea typeface="+mn-lt"/>
              <a:cs typeface="+mn-lt"/>
            </a:endParaRPr>
          </a:p>
          <a:p>
            <a:pPr marL="1200150" lvl="2" indent="-285750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Annual</a:t>
            </a:r>
            <a:r>
              <a:rPr lang="en-US"/>
              <a:t> Average: </a:t>
            </a:r>
            <a:r>
              <a:rPr lang="en-US" err="1"/>
              <a:t>μg</a:t>
            </a:r>
            <a:r>
              <a:rPr lang="en-US"/>
              <a:t>/m</a:t>
            </a:r>
            <a:r>
              <a:rPr lang="en-US" sz="1200" baseline="30000"/>
              <a:t>3</a:t>
            </a:r>
            <a:endParaRPr lang="en-US"/>
          </a:p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EB18D0-0A19-9925-04B6-34F55D0C9F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20" t="1425" r="-348" b="2820"/>
          <a:stretch>
            <a:fillRect/>
          </a:stretch>
        </p:blipFill>
        <p:spPr>
          <a:xfrm>
            <a:off x="6745988" y="834925"/>
            <a:ext cx="4945627" cy="42300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1DA69D-2488-4C0C-EA55-871A136EC3C0}"/>
              </a:ext>
            </a:extLst>
          </p:cNvPr>
          <p:cNvSpPr txBox="1"/>
          <p:nvPr/>
        </p:nvSpPr>
        <p:spPr>
          <a:xfrm>
            <a:off x="700635" y="6142009"/>
            <a:ext cx="1148581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dirty="0">
                <a:ea typeface="+mn-lt"/>
                <a:cs typeface="+mn-lt"/>
              </a:rPr>
              <a:t>https://www.epa.gov/pm-pollution/health-and-environmental-effects-particulate-matter-pm</a:t>
            </a:r>
            <a:endParaRPr lang="en-US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https://smartairfilters.com/en/blog/who-updates-air-quality-pollution-guidelines/?srsltid=AfmBOoqbp1QL4WJ8VLsTe03reEG0aoykdb1SQHJ0gm2tYN5swiW4Krct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705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3CD99-92F6-8830-9FDD-8E91E1A28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D2342-9CC3-E94B-54F7-83D98856E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967" y="91284"/>
            <a:ext cx="10691265" cy="1307592"/>
          </a:xfrm>
        </p:spPr>
        <p:txBody>
          <a:bodyPr>
            <a:normAutofit/>
          </a:bodyPr>
          <a:lstStyle/>
          <a:p>
            <a:r>
              <a:rPr lang="en-US" sz="3600"/>
              <a:t>Particulate Sources</a:t>
            </a:r>
          </a:p>
        </p:txBody>
      </p:sp>
      <p:pic>
        <p:nvPicPr>
          <p:cNvPr id="6" name="Content Placeholder 5" descr="Delhi, the world's most air polluted capital fights back | Brookings">
            <a:extLst>
              <a:ext uri="{FF2B5EF4-FFF2-40B4-BE49-F238E27FC236}">
                <a16:creationId xmlns:a16="http://schemas.microsoft.com/office/drawing/2014/main" id="{5C47F23B-8776-587B-CABB-BCA53AE191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1355" y="1052077"/>
            <a:ext cx="6540877" cy="42650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888309-2D44-6196-0EE7-913D4B12A4C1}"/>
              </a:ext>
            </a:extLst>
          </p:cNvPr>
          <p:cNvSpPr txBox="1"/>
          <p:nvPr/>
        </p:nvSpPr>
        <p:spPr>
          <a:xfrm>
            <a:off x="704803" y="1052996"/>
            <a:ext cx="3927349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dirty="0">
                <a:latin typeface="Calisto MT"/>
              </a:rPr>
              <a:t>The following influence air quality in Delhi: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600" dirty="0">
                <a:latin typeface="Calisto MT"/>
              </a:rPr>
              <a:t>Stoves</a:t>
            </a:r>
            <a:endParaRPr lang="en-US" dirty="0">
              <a:latin typeface="Calisto M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 dirty="0">
                <a:latin typeface="Calisto MT"/>
              </a:rPr>
              <a:t>Vehicles with modified fuel</a:t>
            </a:r>
            <a:endParaRPr lang="en-US" dirty="0">
              <a:latin typeface="Calisto M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 dirty="0">
                <a:latin typeface="Calisto MT"/>
              </a:rPr>
              <a:t>Idling Vehicles</a:t>
            </a:r>
            <a:endParaRPr lang="en-US" dirty="0">
              <a:latin typeface="Calisto M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 dirty="0">
                <a:latin typeface="Calisto MT"/>
              </a:rPr>
              <a:t>Field burnings after harvest</a:t>
            </a:r>
            <a:endParaRPr lang="en-US" dirty="0">
              <a:latin typeface="Calisto M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 dirty="0">
                <a:latin typeface="Calisto MT"/>
              </a:rPr>
              <a:t>Celebrations and Festivals</a:t>
            </a:r>
            <a:endParaRPr lang="en-US" dirty="0">
              <a:latin typeface="Calisto M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 dirty="0">
                <a:latin typeface="Calisto MT"/>
              </a:rPr>
              <a:t>Livestock</a:t>
            </a:r>
            <a:endParaRPr lang="en-US" dirty="0">
              <a:latin typeface="Calisto M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 dirty="0">
                <a:latin typeface="Calisto MT"/>
              </a:rPr>
              <a:t>Dust storms</a:t>
            </a:r>
            <a:endParaRPr lang="en-US" dirty="0">
              <a:latin typeface="Calisto M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 dirty="0">
                <a:latin typeface="Calisto MT"/>
              </a:rPr>
              <a:t>Badarpur Thermal Power Station</a:t>
            </a:r>
            <a:endParaRPr lang="en-US" dirty="0">
              <a:latin typeface="Calisto MT"/>
            </a:endParaRPr>
          </a:p>
          <a:p>
            <a:endParaRPr lang="en-US" sz="1600" dirty="0">
              <a:latin typeface="Calisto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B4A598-1122-077B-B5F2-0345B92382DE}"/>
              </a:ext>
            </a:extLst>
          </p:cNvPr>
          <p:cNvSpPr txBox="1"/>
          <p:nvPr/>
        </p:nvSpPr>
        <p:spPr>
          <a:xfrm>
            <a:off x="700635" y="6142009"/>
            <a:ext cx="36007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https://www.iqair.com/us/india</a:t>
            </a:r>
          </a:p>
        </p:txBody>
      </p:sp>
    </p:spTree>
    <p:extLst>
      <p:ext uri="{BB962C8B-B14F-4D97-AF65-F5344CB8AC3E}">
        <p14:creationId xmlns:p14="http://schemas.microsoft.com/office/powerpoint/2010/main" val="798860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422F6-3C2C-8F1D-90B1-DCAF925A9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99" y="131598"/>
            <a:ext cx="8856319" cy="1307592"/>
          </a:xfrm>
        </p:spPr>
        <p:txBody>
          <a:bodyPr>
            <a:normAutofit fontScale="90000"/>
          </a:bodyPr>
          <a:lstStyle/>
          <a:p>
            <a:r>
              <a:rPr lang="en-US" dirty="0"/>
              <a:t>PM2.5 Recommended Limits, and Delhi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9E628-5C65-FD9F-2CFC-D6A5E4054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831" y="894139"/>
            <a:ext cx="10691265" cy="13245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The World Health Organization recommends PM2.5 levels below 15</a:t>
            </a:r>
            <a:r>
              <a:rPr lang="en-US">
                <a:ea typeface="+mn-lt"/>
                <a:cs typeface="+mn-lt"/>
              </a:rPr>
              <a:t>𝑢𝑔/𝑚3 for a daily average and below 5𝑢𝑔/𝑚3 for a yearly average.</a:t>
            </a:r>
          </a:p>
          <a:p>
            <a:r>
              <a:rPr lang="en-US"/>
              <a:t>Plotted below are those limits with respect to our PM2.5 data.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EB75B8-DAAD-3CC4-F1D5-A53E8360F83F}"/>
              </a:ext>
            </a:extLst>
          </p:cNvPr>
          <p:cNvSpPr txBox="1"/>
          <p:nvPr/>
        </p:nvSpPr>
        <p:spPr>
          <a:xfrm>
            <a:off x="7816273" y="2609273"/>
            <a:ext cx="345209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Delhi sees frequent periods of PM2.5 values far exceeding the WHO's recommendations. 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Summer months tend to have the values closest to safe limits while the late fall and winter months see the highest spikes.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9C1B29-11CC-0175-0027-0AFC483AE2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" t="65" r="1266" b="288"/>
          <a:stretch>
            <a:fillRect/>
          </a:stretch>
        </p:blipFill>
        <p:spPr>
          <a:xfrm>
            <a:off x="700042" y="2218729"/>
            <a:ext cx="6895852" cy="381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344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8B58F-7C88-BE24-2FDB-E03864D5B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5464A-325A-6886-C355-ACD68A441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006" y="115345"/>
            <a:ext cx="5739493" cy="1307592"/>
          </a:xfrm>
        </p:spPr>
        <p:txBody>
          <a:bodyPr>
            <a:normAutofit fontScale="90000"/>
          </a:bodyPr>
          <a:lstStyle/>
          <a:p>
            <a:r>
              <a:rPr lang="en-US" dirty="0"/>
              <a:t>Achieving Stationarity</a:t>
            </a:r>
          </a:p>
        </p:txBody>
      </p:sp>
      <p:pic>
        <p:nvPicPr>
          <p:cNvPr id="4" name="Picture 3" descr="A graph of a sound wave&#10;&#10;AI-generated content may be incorrect.">
            <a:extLst>
              <a:ext uri="{FF2B5EF4-FFF2-40B4-BE49-F238E27FC236}">
                <a16:creationId xmlns:a16="http://schemas.microsoft.com/office/drawing/2014/main" id="{EF4B0E0A-5A64-3C6E-9EEF-36A485021B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8" t="4683" r="-179" b="275"/>
          <a:stretch>
            <a:fillRect/>
          </a:stretch>
        </p:blipFill>
        <p:spPr>
          <a:xfrm>
            <a:off x="4171772" y="807559"/>
            <a:ext cx="3847478" cy="24188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EBF736-32DD-F92D-69B4-E6A6C5AD3F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89" t="154" b="-1229"/>
          <a:stretch>
            <a:fillRect/>
          </a:stretch>
        </p:blipFill>
        <p:spPr>
          <a:xfrm>
            <a:off x="8040284" y="805668"/>
            <a:ext cx="4003060" cy="2506452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E08D546-CDEB-6B74-6DA7-7102B15C137E}"/>
              </a:ext>
            </a:extLst>
          </p:cNvPr>
          <p:cNvSpPr txBox="1">
            <a:spLocks/>
          </p:cNvSpPr>
          <p:nvPr/>
        </p:nvSpPr>
        <p:spPr>
          <a:xfrm>
            <a:off x="700678" y="805051"/>
            <a:ext cx="3103979" cy="5222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Log transformation outputs near stationary series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/>
              <a:t>Variance remains changing</a:t>
            </a:r>
          </a:p>
          <a:p>
            <a:pPr lvl="1">
              <a:buFont typeface="Courier New,monospace" panose="020B0604020202020204" pitchFamily="34" charset="0"/>
              <a:buChar char="o"/>
            </a:pPr>
            <a:endParaRPr lang="en-US" dirty="0"/>
          </a:p>
          <a:p>
            <a:r>
              <a:rPr lang="en-US" dirty="0"/>
              <a:t>Box-Cox transform returns effectively stationary data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Decreasing but mostly stable variance</a:t>
            </a:r>
          </a:p>
        </p:txBody>
      </p:sp>
      <p:pic>
        <p:nvPicPr>
          <p:cNvPr id="8" name="Picture 7" descr="A diagram of a box&#10;&#10;AI-generated content may be incorrect.">
            <a:extLst>
              <a:ext uri="{FF2B5EF4-FFF2-40B4-BE49-F238E27FC236}">
                <a16:creationId xmlns:a16="http://schemas.microsoft.com/office/drawing/2014/main" id="{00F0588B-78FA-FE63-F66D-EA1D4B3245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9820" y="3588013"/>
            <a:ext cx="4304761" cy="2461943"/>
          </a:xfrm>
          <a:prstGeom prst="rect">
            <a:avLst/>
          </a:prstGeom>
        </p:spPr>
      </p:pic>
      <p:pic>
        <p:nvPicPr>
          <p:cNvPr id="9" name="Picture 8" descr="A graph showing a number of different types of sound waves&#10;&#10;AI-generated content may be incorrect.">
            <a:extLst>
              <a:ext uri="{FF2B5EF4-FFF2-40B4-BE49-F238E27FC236}">
                <a16:creationId xmlns:a16="http://schemas.microsoft.com/office/drawing/2014/main" id="{9AF7DA33-2CFE-D4E9-9054-CA1A3F0A09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5032" y="3625521"/>
            <a:ext cx="4101860" cy="241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378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3588-AEA2-BABE-0655-FFE0AF5D0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8521"/>
            <a:ext cx="10691265" cy="1307592"/>
          </a:xfrm>
        </p:spPr>
        <p:txBody>
          <a:bodyPr/>
          <a:lstStyle/>
          <a:p>
            <a:r>
              <a:rPr lang="en-US"/>
              <a:t>Initial Hourly Modeling Attempts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A0AAA-9205-9C38-7BC3-8519A3850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484" y="1175656"/>
            <a:ext cx="3588108" cy="478623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ARIMA Model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Resulted in extreme forecast prediction intervals</a:t>
            </a:r>
          </a:p>
          <a:p>
            <a:r>
              <a:rPr lang="en-US"/>
              <a:t>Neural Network Model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Also resulted in extreme forecast prediction intervals</a:t>
            </a:r>
          </a:p>
          <a:p>
            <a:r>
              <a:rPr lang="en-US"/>
              <a:t>STL with ETS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Issues with missing values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Mean Imputation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/>
              <a:t>Also resulted in extreme forecast prediction intervals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F2B85C-1A72-CB9E-123D-5301F3974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699" y="2230120"/>
            <a:ext cx="6828492" cy="373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428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F1D6E-80A7-39BE-4A28-998512F21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70757"/>
            <a:ext cx="10691265" cy="1307592"/>
          </a:xfrm>
        </p:spPr>
        <p:txBody>
          <a:bodyPr/>
          <a:lstStyle/>
          <a:p>
            <a:r>
              <a:rPr lang="en-US"/>
              <a:t>Diwali Festival 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7CB2B-7F2B-00E5-65D4-0FF7BFFF1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881945"/>
            <a:ext cx="11151340" cy="3739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yearly Diwali celebration generally results in a spike in particulate levels due to fireworks, candles, and thrown </a:t>
            </a:r>
            <a:r>
              <a:rPr lang="en-US" dirty="0" err="1"/>
              <a:t>gulal</a:t>
            </a:r>
            <a:r>
              <a:rPr lang="en-US" dirty="0"/>
              <a:t> (colored powder)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Influence accounted for with a dummy variable</a:t>
            </a:r>
          </a:p>
        </p:txBody>
      </p:sp>
      <p:pic>
        <p:nvPicPr>
          <p:cNvPr id="4" name="Picture 3" descr="A graph of diwali season&#10;&#10;AI-generated content may be incorrect.">
            <a:extLst>
              <a:ext uri="{FF2B5EF4-FFF2-40B4-BE49-F238E27FC236}">
                <a16:creationId xmlns:a16="http://schemas.microsoft.com/office/drawing/2014/main" id="{E9EC7730-D8C0-90EF-2AAA-E26A8CA273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63"/>
          <a:stretch>
            <a:fillRect/>
          </a:stretch>
        </p:blipFill>
        <p:spPr>
          <a:xfrm>
            <a:off x="814816" y="2547677"/>
            <a:ext cx="5570335" cy="3567772"/>
          </a:xfrm>
          <a:prstGeom prst="rect">
            <a:avLst/>
          </a:prstGeom>
        </p:spPr>
      </p:pic>
      <p:pic>
        <p:nvPicPr>
          <p:cNvPr id="9" name="Picture 8" descr="Diwali the Festival of Light - Kids Co.">
            <a:extLst>
              <a:ext uri="{FF2B5EF4-FFF2-40B4-BE49-F238E27FC236}">
                <a16:creationId xmlns:a16="http://schemas.microsoft.com/office/drawing/2014/main" id="{9BB2DA69-7ABF-1C8A-A2FB-8F059CCE4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531" y="2546420"/>
            <a:ext cx="4772851" cy="32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332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31A97-E805-E9BE-8878-1622BB048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EF33F-3C19-A5EE-F229-02FE56C68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70757"/>
            <a:ext cx="10691265" cy="1307592"/>
          </a:xfrm>
        </p:spPr>
        <p:txBody>
          <a:bodyPr/>
          <a:lstStyle/>
          <a:p>
            <a:r>
              <a:rPr lang="en-US"/>
              <a:t>Crop Burning Season 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37775-93A0-E1BB-43C7-5EB949DD9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881945"/>
            <a:ext cx="11151340" cy="2138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Crop burns in Delhi occur between September and November and result in a predictable spike in air particulates before winter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Influence accounted for with a dummy variable</a:t>
            </a:r>
          </a:p>
        </p:txBody>
      </p:sp>
      <p:pic>
        <p:nvPicPr>
          <p:cNvPr id="8" name="Picture 7" descr="India’s capital chokes as air pollution levels hit 50 times the safe ...">
            <a:extLst>
              <a:ext uri="{FF2B5EF4-FFF2-40B4-BE49-F238E27FC236}">
                <a16:creationId xmlns:a16="http://schemas.microsoft.com/office/drawing/2014/main" id="{1C5E13E1-3666-3F7A-AC8D-5A79990E0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379" y="3077234"/>
            <a:ext cx="4854447" cy="2736442"/>
          </a:xfrm>
          <a:prstGeom prst="rect">
            <a:avLst/>
          </a:prstGeom>
        </p:spPr>
      </p:pic>
      <p:pic>
        <p:nvPicPr>
          <p:cNvPr id="5" name="Picture 4" descr="A graph showing the weather&#10;&#10;AI-generated content may be incorrect.">
            <a:extLst>
              <a:ext uri="{FF2B5EF4-FFF2-40B4-BE49-F238E27FC236}">
                <a16:creationId xmlns:a16="http://schemas.microsoft.com/office/drawing/2014/main" id="{3A1A3CE8-4A69-C8B5-5163-F4172ABBEB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5" b="-361"/>
          <a:stretch>
            <a:fillRect/>
          </a:stretch>
        </p:blipFill>
        <p:spPr>
          <a:xfrm>
            <a:off x="699603" y="3037992"/>
            <a:ext cx="5570056" cy="307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938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3588-AEA2-BABE-0655-FFE0AF5D0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8521"/>
            <a:ext cx="10691265" cy="1307592"/>
          </a:xfrm>
        </p:spPr>
        <p:txBody>
          <a:bodyPr/>
          <a:lstStyle/>
          <a:p>
            <a:r>
              <a:rPr lang="en-US"/>
              <a:t>The Prophet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A0AAA-9205-9C38-7BC3-8519A3850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485" y="752888"/>
            <a:ext cx="11180094" cy="5209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Due to the presence of multiple layers of seasonality, only the Prophet model could handle hourly data</a:t>
            </a:r>
            <a:endParaRPr lang="en-US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However, the model returned exceptionally high RMSE and MAPE values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MAPE: ~96% suggests that this model poorly represents the data</a:t>
            </a:r>
            <a:endParaRPr lang="en-US" dirty="0"/>
          </a:p>
        </p:txBody>
      </p:sp>
      <p:pic>
        <p:nvPicPr>
          <p:cNvPr id="4" name="Picture 3" descr="A graph of a graph showing a number of data&#10;&#10;AI-generated content may be incorrect.">
            <a:extLst>
              <a:ext uri="{FF2B5EF4-FFF2-40B4-BE49-F238E27FC236}">
                <a16:creationId xmlns:a16="http://schemas.microsoft.com/office/drawing/2014/main" id="{077D2B47-7B0B-AC53-0683-F6E088B28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5489" y="2402136"/>
            <a:ext cx="6531866" cy="35552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86BEFB-AA0F-78F0-164B-A81ABEC91CC9}"/>
              </a:ext>
            </a:extLst>
          </p:cNvPr>
          <p:cNvSpPr txBox="1"/>
          <p:nvPr/>
        </p:nvSpPr>
        <p:spPr>
          <a:xfrm>
            <a:off x="698031" y="2285877"/>
            <a:ext cx="4524855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The Forecasts routinely underestimate PM2.5 values during Diwali and burn seasons.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Point estimates have significantly less variance compared to real data points in general</a:t>
            </a:r>
          </a:p>
          <a:p>
            <a:pPr lvl="1"/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The Prophet model is unlikely to be the best forecasting choice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24CF85-457F-35D3-22C9-1EDDC6B27F38}"/>
              </a:ext>
            </a:extLst>
          </p:cNvPr>
          <p:cNvSpPr/>
          <p:nvPr/>
        </p:nvSpPr>
        <p:spPr>
          <a:xfrm>
            <a:off x="7580670" y="2295709"/>
            <a:ext cx="983226" cy="349168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068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7A19C-92E6-0F4C-21CE-DC1C03CA8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868" y="82378"/>
            <a:ext cx="11510774" cy="746876"/>
          </a:xfrm>
        </p:spPr>
        <p:txBody>
          <a:bodyPr>
            <a:normAutofit/>
          </a:bodyPr>
          <a:lstStyle/>
          <a:p>
            <a:r>
              <a:rPr lang="en-US"/>
              <a:t>Predicting Weekly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40C2D-1B18-A157-6AD1-C62433912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618" y="928029"/>
            <a:ext cx="11182389" cy="5191424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2100" b="1" u="sng" dirty="0"/>
              <a:t>Change in Strategy:</a:t>
            </a:r>
          </a:p>
          <a:p>
            <a:r>
              <a:rPr lang="en-US" sz="1800" dirty="0"/>
              <a:t>Aggregated the hourly data to weekly</a:t>
            </a:r>
          </a:p>
          <a:p>
            <a:pPr lvl="1"/>
            <a:r>
              <a:rPr lang="en-US" dirty="0"/>
              <a:t>Eliminates daily seasonality, making data easier to work with and yielding better results</a:t>
            </a:r>
          </a:p>
          <a:p>
            <a:r>
              <a:rPr lang="en-US" sz="1800" dirty="0"/>
              <a:t>A train-test split was implemented (80%-20%)</a:t>
            </a:r>
          </a:p>
          <a:p>
            <a:pPr marL="0" indent="0">
              <a:buNone/>
            </a:pPr>
            <a:r>
              <a:rPr lang="en-US" b="1" u="sng" dirty="0"/>
              <a:t>Interpolation:</a:t>
            </a:r>
          </a:p>
          <a:p>
            <a:r>
              <a:rPr lang="en-US" sz="1700" dirty="0"/>
              <a:t>STL/ETS models require no missing values in the data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 dirty="0"/>
              <a:t>Estimated missing values in data using a Dynamic Harmonic Regression (DHR) Model 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500" dirty="0"/>
              <a:t>K = 7 Fourier paired terms</a:t>
            </a:r>
          </a:p>
          <a:p>
            <a:pPr marL="0" indent="0">
              <a:buNone/>
            </a:pPr>
            <a:r>
              <a:rPr lang="en-US" sz="1900" b="1" u="sng" dirty="0"/>
              <a:t>Models Generated:</a:t>
            </a:r>
          </a:p>
          <a:p>
            <a:r>
              <a:rPr lang="en-US" sz="1700" b="1" dirty="0"/>
              <a:t>STL/ETS Decomp</a:t>
            </a:r>
            <a:r>
              <a:rPr lang="en-US" sz="1700" dirty="0"/>
              <a:t>: constrained positive with log(PM2.5) data </a:t>
            </a:r>
          </a:p>
          <a:p>
            <a:r>
              <a:rPr lang="en-US" sz="1700" b="1" dirty="0"/>
              <a:t>Neural Network Autoregression</a:t>
            </a:r>
            <a:r>
              <a:rPr lang="en-US" sz="1700" dirty="0"/>
              <a:t>: 3 lagged inputs, 1 yearly seasonal input, and 2 hidden nodes</a:t>
            </a:r>
          </a:p>
          <a:p>
            <a:r>
              <a:rPr lang="en-US" sz="1700" b="1" dirty="0"/>
              <a:t>DHR</a:t>
            </a:r>
            <a:r>
              <a:rPr lang="en-US" sz="1700" dirty="0"/>
              <a:t>: K=6, with ARIMA(0,1,2)(1,0,0)[52] errors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 dirty="0"/>
              <a:t>First differenced data, second order MA component 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 dirty="0"/>
              <a:t>First order seasonal AR component (yearly)</a:t>
            </a:r>
          </a:p>
          <a:p>
            <a:r>
              <a:rPr lang="en-US" sz="1700" b="1" dirty="0"/>
              <a:t>Combined Model</a:t>
            </a:r>
            <a:r>
              <a:rPr lang="en-US" sz="1700" dirty="0"/>
              <a:t>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 dirty="0"/>
              <a:t>Average of the predictions of the 3 models above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 dirty="0"/>
              <a:t>Bootstrap 1000 sample paths into prediction intervals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957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92909-F7F3-C210-4ABD-7BC2C8ECF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125841"/>
            <a:ext cx="8836655" cy="1307592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Comparisons and Final Model Choice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0072E-6E99-50DF-4C82-7DD32A706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913653"/>
            <a:ext cx="5226272" cy="43991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r>
              <a:rPr lang="en-US"/>
              <a:t>Combination and STL models best mirror data visually</a:t>
            </a:r>
          </a:p>
          <a:p>
            <a:pPr marL="342900" indent="-342900"/>
            <a:r>
              <a:rPr lang="en-US"/>
              <a:t>DHR model has the widest intervals and worst distributional forecasts</a:t>
            </a:r>
          </a:p>
          <a:p>
            <a:pPr marL="0" indent="0">
              <a:buNone/>
            </a:pPr>
            <a:r>
              <a:rPr lang="en-US" b="1"/>
              <a:t>Choosing a Model:</a:t>
            </a:r>
          </a:p>
          <a:p>
            <a:pPr marL="285750" indent="-285750"/>
            <a:r>
              <a:rPr lang="en-US"/>
              <a:t>Combined and DHR models have highest point accuracy (RMSE/MAPE)</a:t>
            </a:r>
          </a:p>
          <a:p>
            <a:pPr marL="285750" indent="-285750"/>
            <a:r>
              <a:rPr lang="en-US"/>
              <a:t>DHR distributional forecasts are far worse than the Combination model's (CRPS)</a:t>
            </a:r>
          </a:p>
          <a:p>
            <a:pPr marL="285750" indent="-285750"/>
            <a:r>
              <a:rPr lang="en-US" b="1"/>
              <a:t>Final Choice: Combination Model</a:t>
            </a:r>
          </a:p>
          <a:p>
            <a:pPr marL="285750" indent="-285750"/>
            <a:endParaRPr lang="en-US" b="1"/>
          </a:p>
        </p:txBody>
      </p:sp>
      <p:pic>
        <p:nvPicPr>
          <p:cNvPr id="4" name="Picture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5E2B0FDE-9FBB-89CB-2DC2-7323664B4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6841" y="825875"/>
            <a:ext cx="6084321" cy="349344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D297004-BDF4-2943-9A14-AE3BD8EC0B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755499"/>
              </p:ext>
            </p:extLst>
          </p:nvPr>
        </p:nvGraphicFramePr>
        <p:xfrm>
          <a:off x="6096000" y="4355725"/>
          <a:ext cx="5575688" cy="1676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93922">
                  <a:extLst>
                    <a:ext uri="{9D8B030D-6E8A-4147-A177-3AD203B41FA5}">
                      <a16:colId xmlns:a16="http://schemas.microsoft.com/office/drawing/2014/main" val="765943825"/>
                    </a:ext>
                  </a:extLst>
                </a:gridCol>
                <a:gridCol w="1393922">
                  <a:extLst>
                    <a:ext uri="{9D8B030D-6E8A-4147-A177-3AD203B41FA5}">
                      <a16:colId xmlns:a16="http://schemas.microsoft.com/office/drawing/2014/main" val="2117926769"/>
                    </a:ext>
                  </a:extLst>
                </a:gridCol>
                <a:gridCol w="1393922">
                  <a:extLst>
                    <a:ext uri="{9D8B030D-6E8A-4147-A177-3AD203B41FA5}">
                      <a16:colId xmlns:a16="http://schemas.microsoft.com/office/drawing/2014/main" val="1917800273"/>
                    </a:ext>
                  </a:extLst>
                </a:gridCol>
                <a:gridCol w="1393922">
                  <a:extLst>
                    <a:ext uri="{9D8B030D-6E8A-4147-A177-3AD203B41FA5}">
                      <a16:colId xmlns:a16="http://schemas.microsoft.com/office/drawing/2014/main" val="2481870724"/>
                    </a:ext>
                  </a:extLst>
                </a:gridCol>
              </a:tblGrid>
              <a:tr h="32393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Model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RMSE</a:t>
                      </a:r>
                    </a:p>
                  </a:txBody>
                  <a:tcP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MAPE</a:t>
                      </a:r>
                    </a:p>
                  </a:txBody>
                  <a:tcP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CPRS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0982229"/>
                  </a:ext>
                </a:extLst>
              </a:tr>
              <a:tr h="323936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DHR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26.1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28.6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61.3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84580590"/>
                  </a:ext>
                </a:extLst>
              </a:tr>
              <a:tr h="323936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highlight>
                            <a:srgbClr val="FFFF00"/>
                          </a:highlight>
                        </a:rPr>
                        <a:t>Combination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highlight>
                            <a:srgbClr val="FFFF00"/>
                          </a:highlight>
                        </a:rPr>
                        <a:t>26.8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highlight>
                            <a:srgbClr val="FFFF00"/>
                          </a:highlight>
                        </a:rPr>
                        <a:t>26.7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highlight>
                            <a:srgbClr val="FFFF00"/>
                          </a:highlight>
                        </a:rPr>
                        <a:t>13.6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74457827"/>
                  </a:ext>
                </a:extLst>
              </a:tr>
              <a:tr h="32393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/>
                        <a:t>STL/ETS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/>
                        <a:t>28.1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/>
                        <a:t>28.8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/>
                        <a:t>16.0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36193341"/>
                  </a:ext>
                </a:extLst>
              </a:tr>
              <a:tr h="32393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NNAR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40.7</a:t>
                      </a:r>
                    </a:p>
                  </a:txBody>
                  <a:tcP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33.9</a:t>
                      </a:r>
                    </a:p>
                  </a:txBody>
                  <a:tcP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19.3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5350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4242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41FAF-97F7-DC9C-7D6E-F9D49349C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972" y="138810"/>
            <a:ext cx="4353146" cy="1307592"/>
          </a:xfrm>
        </p:spPr>
        <p:txBody>
          <a:bodyPr>
            <a:normAutofit fontScale="90000"/>
          </a:bodyPr>
          <a:lstStyle/>
          <a:p>
            <a:r>
              <a:rPr lang="en-US" dirty="0"/>
              <a:t>Final Forecasting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A141A-37E2-527A-5937-FF95AF8D9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729" y="841766"/>
            <a:ext cx="10691265" cy="7598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Combination model forecasts of 104 weeks, or roughly 2 years producing the following: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11030C-1B8E-3A14-B951-106A9D743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9097" y="2433992"/>
            <a:ext cx="6317604" cy="36019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C361BA-5CCE-6368-C3B1-78576E84DD1F}"/>
              </a:ext>
            </a:extLst>
          </p:cNvPr>
          <p:cNvSpPr txBox="1"/>
          <p:nvPr/>
        </p:nvSpPr>
        <p:spPr>
          <a:xfrm>
            <a:off x="2552050" y="2776631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5B781B-A19B-5864-871F-456FB4D4EAB1}"/>
              </a:ext>
            </a:extLst>
          </p:cNvPr>
          <p:cNvSpPr txBox="1"/>
          <p:nvPr/>
        </p:nvSpPr>
        <p:spPr>
          <a:xfrm>
            <a:off x="510759" y="1307611"/>
            <a:ext cx="5352968" cy="36317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PM2.5 air pollution is projected to decrease slightly from 2023-2025, 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600"/>
              <a:t>An increase is within our prediction intervals.</a:t>
            </a:r>
          </a:p>
          <a:p>
            <a:pPr lvl="1"/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/>
              <a:t>The lowest estimate in August of  2023 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33.15853 𝜇𝑔/𝑚3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Still above the WHO's safe daily limits.</a:t>
            </a:r>
          </a:p>
          <a:p>
            <a:pPr lvl="1"/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Highest estimate occurs in December of 2023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189.5962 𝜇𝑔/𝑚3</a:t>
            </a:r>
            <a:endParaRPr lang="en-US"/>
          </a:p>
          <a:p>
            <a:pPr marL="742950" lvl="1" indent="-285750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Exceeds any safe values</a:t>
            </a:r>
          </a:p>
          <a:p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0510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08A49-277A-E2DF-B2F1-44F36FB59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274" y="141733"/>
            <a:ext cx="2297061" cy="1307592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973C0-43D0-503D-B02D-1F9119632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942408"/>
            <a:ext cx="10691265" cy="5019480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dirty="0"/>
              <a:t>Raw Data</a:t>
            </a:r>
          </a:p>
          <a:p>
            <a:pPr lvl="1"/>
            <a:r>
              <a:rPr lang="en-US" dirty="0"/>
              <a:t>Hourly PM2.5 concentration from September 2017 to March 2023 in Delhi, India</a:t>
            </a:r>
          </a:p>
          <a:p>
            <a:r>
              <a:rPr lang="en-US" dirty="0"/>
              <a:t>Data Processing</a:t>
            </a:r>
          </a:p>
          <a:p>
            <a:pPr lvl="1"/>
            <a:r>
              <a:rPr lang="en-US" dirty="0"/>
              <a:t>Box-cox transformation required to stabilize the variance</a:t>
            </a:r>
          </a:p>
          <a:p>
            <a:r>
              <a:rPr lang="en-US" dirty="0"/>
              <a:t>Initial Problems</a:t>
            </a:r>
          </a:p>
          <a:p>
            <a:pPr lvl="1"/>
            <a:r>
              <a:rPr lang="en-US" dirty="0"/>
              <a:t>The standard models could not make forecasts within reasonable prediction intervals at the hourly level</a:t>
            </a:r>
          </a:p>
          <a:p>
            <a:r>
              <a:rPr lang="en-US" dirty="0"/>
              <a:t>Improvements</a:t>
            </a:r>
          </a:p>
          <a:p>
            <a:pPr lvl="1"/>
            <a:r>
              <a:rPr lang="en-US" dirty="0"/>
              <a:t>Weekly aggregation removed daily seasonality allowing for the standard models to be used effectively</a:t>
            </a:r>
          </a:p>
          <a:p>
            <a:pPr lvl="1"/>
            <a:r>
              <a:rPr lang="en-US" dirty="0"/>
              <a:t>The Combination model built from the average of STL/ETS, DHR ARIMA, and Neural Net forecasts performed best</a:t>
            </a:r>
          </a:p>
          <a:p>
            <a:r>
              <a:rPr lang="en-US" dirty="0"/>
              <a:t>PM2.5 Forecasts from the Combination Model</a:t>
            </a:r>
          </a:p>
          <a:p>
            <a:pPr lvl="1"/>
            <a:r>
              <a:rPr lang="en-US" dirty="0"/>
              <a:t>A slight decrease is projected by the point forecasts</a:t>
            </a:r>
          </a:p>
          <a:p>
            <a:pPr lvl="1"/>
            <a:r>
              <a:rPr lang="en-US" dirty="0"/>
              <a:t>A significant increase remains within the forecast prediction intervals</a:t>
            </a:r>
          </a:p>
          <a:p>
            <a:pPr lvl="1"/>
            <a:r>
              <a:rPr lang="en-US" dirty="0"/>
              <a:t>Extreme seasonality is expected to continue</a:t>
            </a:r>
          </a:p>
          <a:p>
            <a:r>
              <a:rPr lang="en-US" dirty="0"/>
              <a:t>Air pollution in Delhi remains a significant problem for Delhi residents</a:t>
            </a:r>
          </a:p>
          <a:p>
            <a:pPr lvl="1"/>
            <a:r>
              <a:rPr lang="en-US" dirty="0"/>
              <a:t>Even the generous side of the forecast prediction intervals show many days far above the WHO’s recommended limit</a:t>
            </a:r>
          </a:p>
        </p:txBody>
      </p:sp>
    </p:spTree>
    <p:extLst>
      <p:ext uri="{BB962C8B-B14F-4D97-AF65-F5344CB8AC3E}">
        <p14:creationId xmlns:p14="http://schemas.microsoft.com/office/powerpoint/2010/main" val="1613904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MarkHowellLive.com | Four Questions That Will Inspire Breakthrough Thinking">
            <a:extLst>
              <a:ext uri="{FF2B5EF4-FFF2-40B4-BE49-F238E27FC236}">
                <a16:creationId xmlns:a16="http://schemas.microsoft.com/office/drawing/2014/main" id="{162FE3BD-5EF7-A2B9-F8BE-7DFA23E133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111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8BD242-8ECB-1978-4D28-400C88324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871759"/>
            <a:ext cx="5067300" cy="34970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Q &amp; A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56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0BBFFD-7035-669E-5084-1483F4FFA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2025 Private Full Day New and Old Delhi City Tour (New Delhi) - with  Trusted Reviews">
            <a:extLst>
              <a:ext uri="{FF2B5EF4-FFF2-40B4-BE49-F238E27FC236}">
                <a16:creationId xmlns:a16="http://schemas.microsoft.com/office/drawing/2014/main" id="{195AEB6F-865E-C5A0-10B0-5612105D3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7"/>
            <a:ext cx="12192000" cy="6852646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65908748-7503-1987-CEB8-1328A5A3F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0970" y="1001642"/>
            <a:ext cx="9890755" cy="4849091"/>
          </a:xfrm>
        </p:spPr>
        <p:txBody>
          <a:bodyPr anchor="ctr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Thanks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80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</TotalTime>
  <Words>1042</Words>
  <Application>Microsoft Office PowerPoint</Application>
  <PresentationFormat>Widescreen</PresentationFormat>
  <Paragraphs>165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Calisto MT</vt:lpstr>
      <vt:lpstr>Courier New</vt:lpstr>
      <vt:lpstr>Courier New,monospace</vt:lpstr>
      <vt:lpstr>Univers Condensed</vt:lpstr>
      <vt:lpstr>Wingdings</vt:lpstr>
      <vt:lpstr>ChronicleVTI</vt:lpstr>
      <vt:lpstr>Air quality in  Delhi, India</vt:lpstr>
      <vt:lpstr>Why Delhi?</vt:lpstr>
      <vt:lpstr>Continuous air quality monitoring stations</vt:lpstr>
      <vt:lpstr>Selecting a Parameter</vt:lpstr>
      <vt:lpstr>Particulate Sources</vt:lpstr>
      <vt:lpstr>PM2.5 Recommended Limits, and Delhi</vt:lpstr>
      <vt:lpstr>Achieving Stationarity</vt:lpstr>
      <vt:lpstr>Initial Hourly Modeling Attempts</vt:lpstr>
      <vt:lpstr>Diwali Festival  </vt:lpstr>
      <vt:lpstr>Crop Burning Season  </vt:lpstr>
      <vt:lpstr>The Prophet Model</vt:lpstr>
      <vt:lpstr>Predicting Weekly Data</vt:lpstr>
      <vt:lpstr>Comparisons and Final Model Choice</vt:lpstr>
      <vt:lpstr>Final Forecasting</vt:lpstr>
      <vt:lpstr>summary</vt:lpstr>
      <vt:lpstr>Q &amp; A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Maher</dc:creator>
  <cp:lastModifiedBy>Maher, Kyle  - SDSU Student</cp:lastModifiedBy>
  <cp:revision>2</cp:revision>
  <dcterms:created xsi:type="dcterms:W3CDTF">2025-11-12T15:08:17Z</dcterms:created>
  <dcterms:modified xsi:type="dcterms:W3CDTF">2025-12-01T03:57:56Z</dcterms:modified>
</cp:coreProperties>
</file>